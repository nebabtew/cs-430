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32248511494383" /><Relationship Type="http://schemas.openxmlformats.org/officeDocument/2006/relationships/extended-properties" Target="/docProps/app.xml" Id="R550dab85f85742d7" /><Relationship Type="http://schemas.openxmlformats.org/officeDocument/2006/relationships/officeDocument" Target="/ppt/presentation.xml" Id="R799592c0933940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0954a37d87472c"/>
  </p:sldMasterIdLst>
  <p:notesMasterIdLst>
    <p:notesMasterId xmlns:r="http://schemas.openxmlformats.org/officeDocument/2006/relationships" r:id="Rf2a9f613d58b4b2e"/>
  </p:notesMasterIdLst>
  <p:sldIdLst>
    <p:sldId xmlns:r="http://schemas.openxmlformats.org/officeDocument/2006/relationships" id="256" r:id="R31ff0412f01b40f2"/>
    <p:sldId xmlns:r="http://schemas.openxmlformats.org/officeDocument/2006/relationships" id="257" r:id="R5c5b3fa5920941c1"/>
    <p:sldId xmlns:r="http://schemas.openxmlformats.org/officeDocument/2006/relationships" id="258" r:id="R02afa1428cf642fc"/>
    <p:sldId xmlns:r="http://schemas.openxmlformats.org/officeDocument/2006/relationships" id="259" r:id="Ra55d3ad3061443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812dfeddfb43ac" /><Relationship Type="http://schemas.openxmlformats.org/officeDocument/2006/relationships/slideMaster" Target="/ppt/slideMasters/slideMaster1.xml" Id="R740954a37d87472c" /><Relationship Type="http://schemas.openxmlformats.org/officeDocument/2006/relationships/notesMaster" Target="/ppt/notesMasters/notesMaster1.xml" Id="Rf2a9f613d58b4b2e" /><Relationship Type="http://schemas.openxmlformats.org/officeDocument/2006/relationships/presProps" Target="/ppt/presProps.xml" Id="Rb58af56a925f408f" /><Relationship Type="http://schemas.openxmlformats.org/officeDocument/2006/relationships/tableStyles" Target="/ppt/tableStyles.xml" Id="Rc1ad27150fb746ea" /><Relationship Type="http://schemas.openxmlformats.org/officeDocument/2006/relationships/slide" Target="/ppt/slides/slide1.xml" Id="R31ff0412f01b40f2" /><Relationship Type="http://schemas.openxmlformats.org/officeDocument/2006/relationships/slide" Target="/ppt/slides/slide2.xml" Id="R5c5b3fa5920941c1" /><Relationship Type="http://schemas.openxmlformats.org/officeDocument/2006/relationships/slide" Target="/ppt/slides/slide3.xml" Id="R02afa1428cf642fc" /><Relationship Type="http://schemas.openxmlformats.org/officeDocument/2006/relationships/slide" Target="/ppt/slides/slide4.xml" Id="Ra55d3ad3061443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903db6083644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9e5f06b5f84063" /><Relationship Type="http://schemas.openxmlformats.org/officeDocument/2006/relationships/notesMaster" Target="/ppt/notesMasters/notesMaster1.xml" Id="R53e9fe8a3c7f44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c4d426ac2d44ee" /><Relationship Type="http://schemas.openxmlformats.org/officeDocument/2006/relationships/notesMaster" Target="/ppt/notesMasters/notesMaster1.xml" Id="R4724d3527ebc4d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02aa42be014a90" /><Relationship Type="http://schemas.openxmlformats.org/officeDocument/2006/relationships/notesMaster" Target="/ppt/notesMasters/notesMaster1.xml" Id="Rd4f1d51da46747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cd687419e0402e" /><Relationship Type="http://schemas.openxmlformats.org/officeDocument/2006/relationships/notesMaster" Target="/ppt/notesMasters/notesMaster1.xml" Id="R710ea6bbb3484e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Columbia, Missouri automotive services. One selected location per distinct business. Instructor approval for Mayowa, Cailin, Nebiyu and Braiden confirmed by Mayowa. Evidence: data/clean/*.csv; data/raw/observations.csv. Capture date October 4,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ER diagram and attributes: report.pdf page 3. Native editable table summaries. ServiceCategory→Service, Business→BusinessService, Service→BusinessService are one-to-many. Source supports Business identity/location and BusinessService offering facts. Composite key prevents duplicate pairs. Website is the only nullable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calculated from offerings.csv: oil 13, brakes 5, tire rotation 1, alignment 1. Q2 uses Columbia and service 1; source URL and raw ID accompany each result. Q3 uses COUNT(DISTINCT business_id), HAVING &gt;=2. Independent CSV checks are evidence/query_checks.md. These are recorded sample counts, not market-demand measures.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MySQL 8.0.46-0ubuntu0.24.04.3; offline initialization execution because sockets are blocked. Both clean builds and all six outputs match. T1 verifies minimum counts and evidence integrity; T2/T3 intentional failures run separately; T4 tests synthetic NULL and absence then removes fixture. Individual query edits: presentation/demo.sql. Record each student making the change live and explaining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b52e6c42d843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db75cd5f524c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6949c50b52436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e72722047a43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2874fe43a94c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b688d483af4f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81980AE-1CDE-48BA-A365-3378F3AF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26E1B2A-952C-473C-B96D-365BD28E1F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15C06A1-739E-45AE-B0BA-A870FBF10F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9445688-5FEF-493D-A4DD-D26B6810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3B78BDD-5C8F-4DEF-84FA-BF88D77884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6D094ED-49F0-46BF-A503-BDF8D3C4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C3FBBB-3034-4216-BD29-33E096FBF9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8D5931F-1F84-44EB-87E3-5A7EC2CB08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B361ECF-1BDD-4DF3-A0E1-A49634C3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38FC1AF-9A8A-4060-87BE-54CB2D5573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90FB92-DCC1-42C2-ACFC-10BDB6A8D4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02F34DE-1510-487C-B2BF-27D1812C6E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FEE7AE4-4E18-4B61-85DD-494ED651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D297B8E-04A0-4E51-82CE-CA11883077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4CB432-58D9-4B41-B7B5-2F65F41ABA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40f1cc9e6541c4" /><Relationship Type="http://schemas.openxmlformats.org/officeDocument/2006/relationships/slideLayout" Target="/ppt/slideLayouts/slideLayout1.xml" Id="R66360a2cbeca4730" /><Relationship Type="http://schemas.openxmlformats.org/officeDocument/2006/relationships/slideLayout" Target="/ppt/slideLayouts/slideLayout2.xml" Id="Rd79068ece8294ba7" /><Relationship Type="http://schemas.openxmlformats.org/officeDocument/2006/relationships/slideLayout" Target="/ppt/slideLayouts/slideLayout3.xml" Id="R5d40adfb531c4e89" /><Relationship Type="http://schemas.openxmlformats.org/officeDocument/2006/relationships/slideLayout" Target="/ppt/slideLayouts/slideLayout4.xml" Id="Rd5a0506affec45cb" /><Relationship Type="http://schemas.openxmlformats.org/officeDocument/2006/relationships/slideLayout" Target="/ppt/slideLayouts/slideLayout5.xml" Id="Refc89486abcb4667" /><Relationship Type="http://schemas.openxmlformats.org/officeDocument/2006/relationships/slideLayout" Target="/ppt/slideLayouts/slideLayout6.xml" Id="Rc6935cca0c2441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360a2cbeca4730"/>
    <p:sldLayoutId xmlns:r="http://schemas.openxmlformats.org/officeDocument/2006/relationships" id="2147483650" r:id="Rd79068ece8294ba7"/>
    <p:sldLayoutId xmlns:r="http://schemas.openxmlformats.org/officeDocument/2006/relationships" id="2147483651" r:id="R5d40adfb531c4e89"/>
    <p:sldLayoutId xmlns:r="http://schemas.openxmlformats.org/officeDocument/2006/relationships" id="2147483652" r:id="Rd5a0506affec45cb"/>
    <p:sldLayoutId xmlns:r="http://schemas.openxmlformats.org/officeDocument/2006/relationships" id="2147483653" r:id="Refc89486abcb4667"/>
    <p:sldLayoutId xmlns:r="http://schemas.openxmlformats.org/officeDocument/2006/relationships" id="2147483654" r:id="Rc6935cca0c2441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b7e7cf283a40c1" /><Relationship Type="http://schemas.openxmlformats.org/officeDocument/2006/relationships/notesSlide" Target="/ppt/notesSlides/notesSlide1.xml" Id="R2cccebcc25d242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40cd8cfe3e4146" /><Relationship Type="http://schemas.openxmlformats.org/officeDocument/2006/relationships/notesSlide" Target="/ppt/notesSlides/notesSlide2.xml" Id="R96606a11187e40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df45d75b224a06" /><Relationship Type="http://schemas.openxmlformats.org/officeDocument/2006/relationships/notesSlide" Target="/ppt/notesSlides/notesSlide3.xml" Id="R7a179623749d4a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783f9f9ec647b7" /><Relationship Type="http://schemas.openxmlformats.org/officeDocument/2006/relationships/notesSlide" Target="/ppt/notesSlides/notesSlide4.xml" Id="Rd6f345c5df2142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B8798-F286-4470-B906-07DBC93C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Automotive services in Columbia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FA82A-1711-4371-90E4-142B20C8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779"/>
                </a:solidFill>
                <a:latin typeface="DejaVu Sans"/>
                <a:ea typeface="DejaVu Sans"/>
                <a:cs typeface="DejaVu Sans"/>
              </a:rPr>
              <a:t>LOCAL SERVICE INSIGHTS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3FA19-B9D0-4B91-8D47-D89BE2A9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D5940-DACB-449F-BCF8-0E4D69ED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Find a local provider and check the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14EBA-6F04-4A79-A3F3-AF766CFD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1076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007D86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007D86"/>
                </a:solidFill>
                <a:latin typeface="DejaVu Sans"/>
                <a:ea typeface="DejaVu Sans"/>
                <a:cs typeface="DejaVu Sans"/>
              </a:rPr>
              <a:t>15 businesses     20 recorded offerings</a:t>
            </a:r>
          </a:p>
          <a:p xmlns:a="http://schemas.openxmlformats.org/drawingml/2006/main">
            <a:pPr>
              <a:buNone/>
              <a:defRPr sz="3450" b="1">
                <a:solidFill>
                  <a:srgbClr val="007D86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007D86"/>
                </a:solidFill>
                <a:latin typeface="DejaVu Sans"/>
                <a:ea typeface="DejaVu Sans"/>
                <a:cs typeface="DejaVu Sans"/>
              </a:rPr>
              <a:t>4 services            2 categories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97B7E-30E2-4B32-AC7C-FEA8433C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One selected location per business.</a:t>
            </a:r>
          </a:p>
          <a:p xmlns:a="http://schemas.openxmlformats.org/drawingml/2006/main">
            <a:pPr>
              <a:buNone/>
              <a:defRPr sz="2175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Missing offerings mean “not recorded.”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55F6C-6BE1-4336-A916-B2089E13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Mayowa · Cailin · Nebiyu · Braiden</a:t>
            </a:r>
          </a:p>
        </p:txBody>
      </p:sp>
    </p:spTree>
    <p:extLst>
      <p:ext uri="{BB962C8B-B14F-4D97-AF65-F5344CB8AC3E}">
        <p14:creationId xmlns:p14="http://schemas.microsoft.com/office/powerpoint/2010/main" val="8120181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961C5A-D993-4EB2-AD8A-EBDEA84C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How the five tables fit together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022D0-C007-4F72-B82A-D72C2AEC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779"/>
                </a:solidFill>
                <a:latin typeface="DejaVu Sans"/>
                <a:ea typeface="DejaVu Sans"/>
                <a:cs typeface="DejaVu Sans"/>
              </a:rPr>
              <a:t>LOCAL SERVICE INSIGHTS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6AA51-257C-4409-B70D-387589E9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DAD58-94B9-48A0-8F50-237FA087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1532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EB181-39ED-41FD-B0CF-DE700B27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ServiceCategory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92095-8EBC-48D4-A190-F174E71C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297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PK category_id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7A2EA-3039-49D8-B62F-99386DE3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1532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17C37-1C5F-4C92-BD58-E9498764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71208-2AE8-4716-8A29-67EFE916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297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PK service_id</a:t>
            </a:r>
          </a:p>
          <a:p xmlns:a="http://schemas.openxmlformats.org/drawingml/2006/main">
            <a:pPr>
              <a:buNone/>
              <a:defRPr sz="1650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FK category_id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DCBB7-0C52-45F2-A2C3-E06C4023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15324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783D8-17F5-4644-9DD3-0C4C46B5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097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Business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BF361-01BF-426C-BEC5-627F8778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28850"/>
            <a:ext cx="297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PK business_id</a:t>
            </a:r>
          </a:p>
          <a:p xmlns:a="http://schemas.openxmlformats.org/drawingml/2006/main">
            <a:pPr>
              <a:buNone/>
              <a:defRPr sz="1650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Website may be NULL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E1974-21E2-4216-934E-E232B22C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19500"/>
            <a:ext cx="4286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15324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0AD29-A2A0-4C6E-A49E-B77B1762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14750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BusinessService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1C3C1-CE6C-4145-A2C5-7AEEE224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33850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PK (business_id, service_id)</a:t>
            </a:r>
          </a:p>
          <a:p xmlns:a="http://schemas.openxmlformats.org/drawingml/2006/main">
            <a:pPr>
              <a:buNone/>
              <a:defRPr sz="1650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FK business, service, source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37307-F464-4979-B087-82D516F5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0"/>
            <a:ext cx="2571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15324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9F619-B436-4435-8746-4C3E7B00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097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0F1211-5632-45C8-BC20-D6C50134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28850"/>
            <a:ext cx="2305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PK source_id</a:t>
            </a:r>
          </a:p>
          <a:p xmlns:a="http://schemas.openxmlformats.org/drawingml/2006/main">
            <a:pPr>
              <a:buNone/>
              <a:defRPr sz="1650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URL / raw locator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8D827D-D79A-4DAE-8C9C-7B8FB18E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D8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7D86"/>
                </a:solidFill>
                <a:latin typeface="DejaVu Sans"/>
                <a:ea typeface="DejaVu Sans"/>
                <a:cs typeface="DejaVu Sans"/>
              </a:rPr>
              <a:t>1 → many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391C7C-F6A6-4120-B30A-1948B3DE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48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D8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7D86"/>
                </a:solidFill>
                <a:latin typeface="DejaVu Sans"/>
                <a:ea typeface="DejaVu Sans"/>
                <a:cs typeface="DejaVu Sans"/>
              </a:rPr>
              <a:t>1 → many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E1A74E-D0E6-4F6B-A952-BF53B94E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7D86"/>
                </a:solidFill>
                <a:latin typeface="DejaVu Sans"/>
                <a:ea typeface="DejaVu Sans"/>
                <a:cs typeface="DejaVu Sans"/>
              </a:rPr>
              <a:t>Service 1 → many offering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9ED0DF-E465-4056-9644-8A0F1E5B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Source → identity, location, offering</a:t>
            </a:r>
          </a:p>
        </p:txBody>
      </p:sp>
    </p:spTree>
    <p:extLst>
      <p:ext uri="{BB962C8B-B14F-4D97-AF65-F5344CB8AC3E}">
        <p14:creationId xmlns:p14="http://schemas.microsoft.com/office/powerpoint/2010/main" val="1746679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EB6B6-E408-426F-B416-FA2DD14A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The sample records 13 oil-change providers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70E5D-EE7E-4A71-A866-D44B38DC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779"/>
                </a:solidFill>
                <a:latin typeface="DejaVu Sans"/>
                <a:ea typeface="DejaVu Sans"/>
                <a:cs typeface="DejaVu Sans"/>
              </a:rPr>
              <a:t>LOCAL SERVICE INSIGHTS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1A059-2E8C-4565-A753-87F24522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40135-92D2-40A8-8F8D-78BB0EB8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Recorded providers across 20 offerings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3F5BB-29F5-47B1-8717-52465798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90775"/>
            <a:ext cx="5619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Oil change               13</a:t>
            </a:r>
          </a:p>
          <a:p xmlns:a="http://schemas.openxmlformats.org/drawingml/2006/main">
            <a:pPr>
              <a:buNone/>
              <a:defRPr sz="2550" b="1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Brake service             5</a:t>
            </a:r>
          </a:p>
          <a:p xmlns:a="http://schemas.openxmlformats.org/drawingml/2006/main">
            <a:pPr>
              <a:buNone/>
              <a:defRPr sz="2550" b="1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Tire rotation               1</a:t>
            </a:r>
          </a:p>
          <a:p xmlns:a="http://schemas.openxmlformats.org/drawingml/2006/main">
            <a:pPr>
              <a:buNone/>
              <a:defRPr sz="2550" b="1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Wheel alignment         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60B9C-4F64-43C5-8B05-2185775D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90775"/>
            <a:ext cx="4857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Q2: 13 providers, each with</a:t>
            </a:r>
          </a:p>
          <a:p xmlns:a="http://schemas.openxmlformats.org/drawingml/2006/main">
            <a:pPr>
              <a:buNone/>
              <a:defRPr sz="2175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a source URL and raw-row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75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Q3 at threshold 2:</a:t>
            </a:r>
          </a:p>
          <a:p xmlns:a="http://schemas.openxmlformats.org/drawingml/2006/main">
            <a:pPr>
              <a:buNone/>
              <a:defRPr sz="2175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oil change and brake service.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B2547-B792-483B-BD17-6B747391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07D8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007D86"/>
                </a:solidFill>
                <a:latin typeface="DejaVu Sans"/>
                <a:ea typeface="DejaVu Sans"/>
                <a:cs typeface="DejaVu Sans"/>
              </a:rPr>
              <a:t>A missing offering means it was not recorded in this sample.</a:t>
            </a:r>
          </a:p>
        </p:txBody>
      </p:sp>
    </p:spTree>
    <p:extLst>
      <p:ext uri="{BB962C8B-B14F-4D97-AF65-F5344CB8AC3E}">
        <p14:creationId xmlns:p14="http://schemas.microsoft.com/office/powerpoint/2010/main" val="3938515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294C3-A749-4224-B623-595900F6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Database rebuilds and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4E09E-D25A-491A-8AE8-5BDDC5B1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7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779"/>
                </a:solidFill>
                <a:latin typeface="DejaVu Sans"/>
                <a:ea typeface="DejaVu Sans"/>
                <a:cs typeface="DejaVu Sans"/>
              </a:rPr>
              <a:t>LOCAL SERVICE INSIGHTS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1290E-9034-4FA9-A09D-B56A059E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B4CAE-80B7-4F69-B483-D5A9779A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07D8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7D86"/>
                </a:solidFill>
                <a:latin typeface="DejaVu Sans"/>
                <a:ea typeface="DejaVu Sans"/>
                <a:cs typeface="DejaVu Sans"/>
              </a:rPr>
              <a:t>MySQL 8.0.46 · Two identical clean builds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B67E3-33E0-4000-91A8-C5B6DA7A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2675"/>
            <a:ext cx="1104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T1  Counts and source checks</a:t>
            </a:r>
          </a:p>
          <a:p xmlns:a="http://schemas.openxmlformats.org/drawingml/2006/main">
            <a:pPr>
              <a:buNone/>
              <a:defRPr sz="2175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T2  Invalid foreign key rejected (1452)</a:t>
            </a:r>
          </a:p>
          <a:p xmlns:a="http://schemas.openxmlformats.org/drawingml/2006/main">
            <a:pPr>
              <a:buNone/>
              <a:defRPr sz="2175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T3  Duplicate offering rejected (1062)</a:t>
            </a:r>
          </a:p>
          <a:p xmlns:a="http://schemas.openxmlformats.org/drawingml/2006/main">
            <a:pPr>
              <a:buNone/>
              <a:defRPr sz="2175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T4  Missing data checked in a separate fixture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89E73-B062-4CE0-8EFB-7DE83B30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5292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Each member explains and changes a query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84EDC-BD00-4409-9868-5DC744D4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62525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Mayowa: Q3 threshold 1 → 2        Cailin: Q2 oil → brakes</a:t>
            </a:r>
          </a:p>
          <a:p xmlns:a="http://schemas.openxmlformats.org/drawingml/2006/main">
            <a:pPr>
              <a:buNone/>
              <a:defRPr sz="1875" b="0">
                <a:solidFill>
                  <a:srgbClr val="1532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5324B"/>
                </a:solidFill>
                <a:latin typeface="DejaVu Sans"/>
                <a:ea typeface="DejaVu Sans"/>
                <a:cs typeface="DejaVu Sans"/>
              </a:rPr>
              <a:t>Nebiyu: Q1 Auto → Jiffy                  Braiden: Q5 business 10 → 15</a:t>
            </a:r>
          </a:p>
        </p:txBody>
      </p:sp>
    </p:spTree>
    <p:extLst>
      <p:ext uri="{BB962C8B-B14F-4D97-AF65-F5344CB8AC3E}">
        <p14:creationId xmlns:p14="http://schemas.microsoft.com/office/powerpoint/2010/main" val="1241008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2026-10-05T17:07:02.0030000Z</dcterms:created>
  <dcterms:modified xsi:type="dcterms:W3CDTF">2026-10-05T17:07:02.0030000Z</dcterms:modified>
</coreProperties>
</file>